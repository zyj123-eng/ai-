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6c4842181c4539" /><Relationship Type="http://schemas.openxmlformats.org/officeDocument/2006/relationships/extended-properties" Target="/docProps/app.xml" Id="R9d436469d7254289" /><Relationship Type="http://schemas.openxmlformats.org/officeDocument/2006/relationships/officeDocument" Target="/ppt/presentation.xml" Id="Red280640153542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4f40519361426f"/>
  </p:sldMasterIdLst>
  <p:notesMasterIdLst>
    <p:notesMasterId xmlns:r="http://schemas.openxmlformats.org/officeDocument/2006/relationships" r:id="R3aae47142f3543d6"/>
  </p:notesMasterIdLst>
  <p:sldIdLst>
    <p:sldId xmlns:r="http://schemas.openxmlformats.org/officeDocument/2006/relationships" id="256" r:id="R204265713d024835"/>
    <p:sldId xmlns:r="http://schemas.openxmlformats.org/officeDocument/2006/relationships" id="257" r:id="R805e898bae004919"/>
    <p:sldId xmlns:r="http://schemas.openxmlformats.org/officeDocument/2006/relationships" id="258" r:id="R6bbf88d7f3834955"/>
    <p:sldId xmlns:r="http://schemas.openxmlformats.org/officeDocument/2006/relationships" id="259" r:id="R4ce2280ad3a14a50"/>
    <p:sldId xmlns:r="http://schemas.openxmlformats.org/officeDocument/2006/relationships" id="260" r:id="R7e6002e36b284282"/>
    <p:sldId xmlns:r="http://schemas.openxmlformats.org/officeDocument/2006/relationships" id="261" r:id="R9debd209f7c04e39"/>
    <p:sldId xmlns:r="http://schemas.openxmlformats.org/officeDocument/2006/relationships" id="262" r:id="Re94ea5109ad14377"/>
    <p:sldId xmlns:r="http://schemas.openxmlformats.org/officeDocument/2006/relationships" id="263" r:id="R5a7af71dfec240be"/>
    <p:sldId xmlns:r="http://schemas.openxmlformats.org/officeDocument/2006/relationships" id="264" r:id="R3adc4c0bc19e4dab"/>
    <p:sldId xmlns:r="http://schemas.openxmlformats.org/officeDocument/2006/relationships" id="265" r:id="R06fddde9e7584e62"/>
    <p:sldId xmlns:r="http://schemas.openxmlformats.org/officeDocument/2006/relationships" id="266" r:id="R9178011750474400"/>
    <p:sldId xmlns:r="http://schemas.openxmlformats.org/officeDocument/2006/relationships" id="267" r:id="R797e879fc25448a9"/>
    <p:sldId xmlns:r="http://schemas.openxmlformats.org/officeDocument/2006/relationships" id="268" r:id="Re9c8dca7fcc14aa9"/>
    <p:sldId xmlns:r="http://schemas.openxmlformats.org/officeDocument/2006/relationships" id="269" r:id="R739f418654284cba"/>
    <p:sldId xmlns:r="http://schemas.openxmlformats.org/officeDocument/2006/relationships" id="270" r:id="R5b5cb29ebd2247f2"/>
    <p:sldId xmlns:r="http://schemas.openxmlformats.org/officeDocument/2006/relationships" id="271" r:id="Rdfd37a460dfb43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be357cda494a4c" /><Relationship Type="http://schemas.openxmlformats.org/officeDocument/2006/relationships/slideMaster" Target="/ppt/slideMasters/slideMaster1.xml" Id="Rca4f40519361426f" /><Relationship Type="http://schemas.openxmlformats.org/officeDocument/2006/relationships/notesMaster" Target="/ppt/notesMasters/notesMaster1.xml" Id="R3aae47142f3543d6" /><Relationship Type="http://schemas.openxmlformats.org/officeDocument/2006/relationships/presProps" Target="/ppt/presProps.xml" Id="R564ed69d42b64824" /><Relationship Type="http://schemas.openxmlformats.org/officeDocument/2006/relationships/tableStyles" Target="/ppt/tableStyles.xml" Id="Ra0eb897ec7674890" /><Relationship Type="http://schemas.openxmlformats.org/officeDocument/2006/relationships/slide" Target="/ppt/slides/slide1.xml" Id="R204265713d024835" /><Relationship Type="http://schemas.openxmlformats.org/officeDocument/2006/relationships/slide" Target="/ppt/slides/slide2.xml" Id="R805e898bae004919" /><Relationship Type="http://schemas.openxmlformats.org/officeDocument/2006/relationships/slide" Target="/ppt/slides/slide3.xml" Id="R6bbf88d7f3834955" /><Relationship Type="http://schemas.openxmlformats.org/officeDocument/2006/relationships/slide" Target="/ppt/slides/slide4.xml" Id="R4ce2280ad3a14a50" /><Relationship Type="http://schemas.openxmlformats.org/officeDocument/2006/relationships/slide" Target="/ppt/slides/slide5.xml" Id="R7e6002e36b284282" /><Relationship Type="http://schemas.openxmlformats.org/officeDocument/2006/relationships/slide" Target="/ppt/slides/slide6.xml" Id="R9debd209f7c04e39" /><Relationship Type="http://schemas.openxmlformats.org/officeDocument/2006/relationships/slide" Target="/ppt/slides/slide7.xml" Id="Re94ea5109ad14377" /><Relationship Type="http://schemas.openxmlformats.org/officeDocument/2006/relationships/slide" Target="/ppt/slides/slide8.xml" Id="R5a7af71dfec240be" /><Relationship Type="http://schemas.openxmlformats.org/officeDocument/2006/relationships/slide" Target="/ppt/slides/slide9.xml" Id="R3adc4c0bc19e4dab" /><Relationship Type="http://schemas.openxmlformats.org/officeDocument/2006/relationships/slide" Target="/ppt/slides/slide10.xml" Id="R06fddde9e7584e62" /><Relationship Type="http://schemas.openxmlformats.org/officeDocument/2006/relationships/slide" Target="/ppt/slides/slide11.xml" Id="R9178011750474400" /><Relationship Type="http://schemas.openxmlformats.org/officeDocument/2006/relationships/slide" Target="/ppt/slides/slide12.xml" Id="R797e879fc25448a9" /><Relationship Type="http://schemas.openxmlformats.org/officeDocument/2006/relationships/slide" Target="/ppt/slides/slide13.xml" Id="Re9c8dca7fcc14aa9" /><Relationship Type="http://schemas.openxmlformats.org/officeDocument/2006/relationships/slide" Target="/ppt/slides/slide14.xml" Id="R739f418654284cba" /><Relationship Type="http://schemas.openxmlformats.org/officeDocument/2006/relationships/slide" Target="/ppt/slides/slide15.xml" Id="R5b5cb29ebd2247f2" /><Relationship Type="http://schemas.openxmlformats.org/officeDocument/2006/relationships/slide" Target="/ppt/slides/slide16.xml" Id="Rdfd37a460dfb43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2dd7b976e047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4a920ecd0c4fae" /><Relationship Type="http://schemas.openxmlformats.org/officeDocument/2006/relationships/notesMaster" Target="/ppt/notesMasters/notesMaster1.xml" Id="R09c2577f686e4d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4aa5a2754140a1" /><Relationship Type="http://schemas.openxmlformats.org/officeDocument/2006/relationships/notesMaster" Target="/ppt/notesMasters/notesMaster1.xml" Id="R34001aa441b84f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39089bda964f56" /><Relationship Type="http://schemas.openxmlformats.org/officeDocument/2006/relationships/notesMaster" Target="/ppt/notesMasters/notesMaster1.xml" Id="R1469bc4b1ad242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e3437eecac4d6a" /><Relationship Type="http://schemas.openxmlformats.org/officeDocument/2006/relationships/notesMaster" Target="/ppt/notesMasters/notesMaster1.xml" Id="Rc19b8e183b7649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7fb56be51344c9" /><Relationship Type="http://schemas.openxmlformats.org/officeDocument/2006/relationships/notesMaster" Target="/ppt/notesMasters/notesMaster1.xml" Id="Ra2042bcde1b249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1717a99fa746f5" /><Relationship Type="http://schemas.openxmlformats.org/officeDocument/2006/relationships/notesMaster" Target="/ppt/notesMasters/notesMaster1.xml" Id="R5e8dc48147e344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e21921bc4d4b9e" /><Relationship Type="http://schemas.openxmlformats.org/officeDocument/2006/relationships/notesMaster" Target="/ppt/notesMasters/notesMaster1.xml" Id="Rbacfdd3821d143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3890cca0914c3a" /><Relationship Type="http://schemas.openxmlformats.org/officeDocument/2006/relationships/notesMaster" Target="/ppt/notesMasters/notesMaster1.xml" Id="Rb4f5a9e9424f4a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8b9c216d8d4be7" /><Relationship Type="http://schemas.openxmlformats.org/officeDocument/2006/relationships/notesMaster" Target="/ppt/notesMasters/notesMaster1.xml" Id="R4dbd60ae47204a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0b995c84464431c" /><Relationship Type="http://schemas.openxmlformats.org/officeDocument/2006/relationships/notesMaster" Target="/ppt/notesMasters/notesMaster1.xml" Id="R6eca39dd5eb540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c6ad2cda37430c" /><Relationship Type="http://schemas.openxmlformats.org/officeDocument/2006/relationships/notesMaster" Target="/ppt/notesMasters/notesMaster1.xml" Id="R518257d0dcf64d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d718a8efa0479b" /><Relationship Type="http://schemas.openxmlformats.org/officeDocument/2006/relationships/notesMaster" Target="/ppt/notesMasters/notesMaster1.xml" Id="R30713667cb5748c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39b74b151c4f08" /><Relationship Type="http://schemas.openxmlformats.org/officeDocument/2006/relationships/notesMaster" Target="/ppt/notesMasters/notesMaster1.xml" Id="R0fa46ebc8ed44ec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ca4c2f7a38f45e2" /><Relationship Type="http://schemas.openxmlformats.org/officeDocument/2006/relationships/notesMaster" Target="/ppt/notesMasters/notesMaster1.xml" Id="R3536f58eb34243c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2b8b7ce50de4c23" /><Relationship Type="http://schemas.openxmlformats.org/officeDocument/2006/relationships/notesMaster" Target="/ppt/notesMasters/notesMaster1.xml" Id="R77db5581b0ed470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799f704c80d491a" /><Relationship Type="http://schemas.openxmlformats.org/officeDocument/2006/relationships/notesMaster" Target="/ppt/notesMasters/notesMaster1.xml" Id="Ra9c4cb27ac164b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研究报告配套答辩。正文摘要及前三章沿用GitHub基准。本次增加治理执行规则和提交材料，不改动原六臂数据、统计结果、规范论证或创新定位。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来源：报告第一章及第三章。以下150元、200元及理由历史为构造案例。真实手机材料未观察到无据说法导致消费者提价。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来源：报告表1、第二章及附录。原实验夹克购物任务，模拟的是记忆陈述，516份响应由原研究参与者提供；403人为其子样本。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来源：报告第一章。Fong等2024，DOI10.1177/00222437221147088；Prunkl2024，DOI10.1007/s11023-024-09665-1；Lara与del Valle2026，DOI10.1007/s11948-026-00619-7。李术平仅摘要及公开信息。沿用原有创新定位。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来源：报告第二、三章。此页为既有规范主张，不由二手信任差值推出。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来源：报告表2及research/evidence/元宝桌面版预试_完整会话与元数据.json。三条会话、每条三轮；给定历史、固定顺序、每条件一次。不能估计总体成功率。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来源：Huang、Huang与Guo2026，Frontiers in Psychology17:1934857，DOI10.3389/fpsyg.2026.1934857；作者固定数据提交3a1f72704e8f49fa9bbc3854be56ea0fa90f6d53。原MATLAB图未改动。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来源：报告第三章原结果及research/domestic_data_reanalysis_20261029/results/contrasts.csv。保留原统计口径；没有本轮新增消费者结果。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来源：本轮报告表4，拟议治理实现。关系匹配需要会话依据与复核，不据点击或提价推断真实动机。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来源：本轮报告表4及governance/rules.json。一次上限是参考实现的配置，不是经验证的最优伦理次数。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来源：本轮治理实现。记录告知版本和后续表达，不声称证明真实心理理解，也不强制理解测验。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来源：本轮报告第四章。均为待部署采集与审计指标，原实验没有这些负担变量。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来源：本轮报告表5，沿用原统计与第三章规范命题。对应表是工程验收分工，不增加机制有效性结论。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来源：governance/budget_guard.py、check_protocol.py、protocol_results.json。输入全部为构造协议记录，不是模型或消费者实验。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来源：原报告第四章及本轮执行约定。法律适用限定沿用正文，新增默认配置属于产品设计建议。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来源：submission/README.md与material_status.json。知网报告与百度网盘分享按用户要求不在本轮办理；正式上传未执行，不能登记为已经提交。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fd56fd0eb74ea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13307c04b04c8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d00b7c1d0540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9af20e97c64e9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d41c461326492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929386089543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658841-7684-4DE4-B40F-A9461A2AF9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386D55B-5AC0-451E-B5EA-C7F40942DA1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B60B42B-91D1-4B5C-AAA2-9754BC88BE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9F96BD-E6FD-4C92-95F7-7972D6F909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BBC3C9A-401E-49CB-89C5-A9D43FED75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7BF68A4-390E-4ACE-971C-DC42EA7070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13CD549-88BB-4081-8315-3FA05C165D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884832B-7A13-42D2-AD26-64D9E8A0F0E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042A2A-E632-446C-B1A8-EBA788A36D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CB9ED8-1CA1-4531-976B-EA31103CF9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966d5cd2014352" /><Relationship Type="http://schemas.openxmlformats.org/officeDocument/2006/relationships/slideLayout" Target="/ppt/slideLayouts/slideLayout1.xml" Id="Ra0117d1eee15466c" /><Relationship Type="http://schemas.openxmlformats.org/officeDocument/2006/relationships/slideLayout" Target="/ppt/slideLayouts/slideLayout2.xml" Id="Rcdbe4d03e13c4371" /><Relationship Type="http://schemas.openxmlformats.org/officeDocument/2006/relationships/slideLayout" Target="/ppt/slideLayouts/slideLayout3.xml" Id="R4e551746c9ad4def" /><Relationship Type="http://schemas.openxmlformats.org/officeDocument/2006/relationships/slideLayout" Target="/ppt/slideLayouts/slideLayout4.xml" Id="R537f1ce2684b4847" /><Relationship Type="http://schemas.openxmlformats.org/officeDocument/2006/relationships/slideLayout" Target="/ppt/slideLayouts/slideLayout5.xml" Id="R90af6126dbdf4bed" /><Relationship Type="http://schemas.openxmlformats.org/officeDocument/2006/relationships/slideLayout" Target="/ppt/slideLayouts/slideLayout6.xml" Id="Rb9684070d4034a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117d1eee15466c"/>
    <p:sldLayoutId xmlns:r="http://schemas.openxmlformats.org/officeDocument/2006/relationships" id="2147483650" r:id="Rcdbe4d03e13c4371"/>
    <p:sldLayoutId xmlns:r="http://schemas.openxmlformats.org/officeDocument/2006/relationships" id="2147483651" r:id="R4e551746c9ad4def"/>
    <p:sldLayoutId xmlns:r="http://schemas.openxmlformats.org/officeDocument/2006/relationships" id="2147483652" r:id="R537f1ce2684b4847"/>
    <p:sldLayoutId xmlns:r="http://schemas.openxmlformats.org/officeDocument/2006/relationships" id="2147483653" r:id="R90af6126dbdf4bed"/>
    <p:sldLayoutId xmlns:r="http://schemas.openxmlformats.org/officeDocument/2006/relationships" id="2147483654" r:id="Rb9684070d4034a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533c9abfdd4b57" /><Relationship Type="http://schemas.openxmlformats.org/officeDocument/2006/relationships/notesSlide" Target="/ppt/notesSlides/notesSlide1.xml" Id="R8a653bbb993141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5dd7194ed9417d" /><Relationship Type="http://schemas.openxmlformats.org/officeDocument/2006/relationships/notesSlide" Target="/ppt/notesSlides/notesSlide2.xml" Id="Rdd51f8dc9d5f47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17dbcc7eac4cc6" /><Relationship Type="http://schemas.openxmlformats.org/officeDocument/2006/relationships/notesSlide" Target="/ppt/notesSlides/notesSlide3.xml" Id="Rc43b8b21aafa44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c66ab51b8442ae" /><Relationship Type="http://schemas.openxmlformats.org/officeDocument/2006/relationships/notesSlide" Target="/ppt/notesSlides/notesSlide4.xml" Id="R834826c0042940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aa5ac86e704c0c" /><Relationship Type="http://schemas.openxmlformats.org/officeDocument/2006/relationships/notesSlide" Target="/ppt/notesSlides/notesSlide5.xml" Id="Rf1e61a389ca24e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a0f7030a394904" /><Relationship Type="http://schemas.openxmlformats.org/officeDocument/2006/relationships/notesSlide" Target="/ppt/notesSlides/notesSlide6.xml" Id="R2498833732d24e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9a36f1848a446a" /><Relationship Type="http://schemas.openxmlformats.org/officeDocument/2006/relationships/image" Target="/ppt/media/image.png" Id="Ra926788894ff4d0c" /><Relationship Type="http://schemas.openxmlformats.org/officeDocument/2006/relationships/notesSlide" Target="/ppt/notesSlides/notesSlide7.xml" Id="Rebbecbe22a6548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5d226c1694474e" /><Relationship Type="http://schemas.openxmlformats.org/officeDocument/2006/relationships/image" Target="/ppt/media/image2.png" Id="R4fddff96a94342e0" /><Relationship Type="http://schemas.openxmlformats.org/officeDocument/2006/relationships/notesSlide" Target="/ppt/notesSlides/notesSlide8.xml" Id="R94264aff14f846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bbe3aff5e54e93" /><Relationship Type="http://schemas.openxmlformats.org/officeDocument/2006/relationships/notesSlide" Target="/ppt/notesSlides/notesSlide9.xml" Id="R7102b327dabc41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af299cae91452d" /><Relationship Type="http://schemas.openxmlformats.org/officeDocument/2006/relationships/notesSlide" Target="/ppt/notesSlides/notesSlide10.xml" Id="R767c6bebff4146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5ae314e22e436c" /><Relationship Type="http://schemas.openxmlformats.org/officeDocument/2006/relationships/notesSlide" Target="/ppt/notesSlides/notesSlide11.xml" Id="Rd44fb5229cd641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ef431f77d04981" /><Relationship Type="http://schemas.openxmlformats.org/officeDocument/2006/relationships/notesSlide" Target="/ppt/notesSlides/notesSlide12.xml" Id="R778fd997aee7490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d01f5e020c41c4" /><Relationship Type="http://schemas.openxmlformats.org/officeDocument/2006/relationships/notesSlide" Target="/ppt/notesSlides/notesSlide13.xml" Id="R8058d44297ec437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1cb985e7974328" /><Relationship Type="http://schemas.openxmlformats.org/officeDocument/2006/relationships/notesSlide" Target="/ppt/notesSlides/notesSlide14.xml" Id="R42ccabfc92fc4bc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c349c5b8df4a8c" /><Relationship Type="http://schemas.openxmlformats.org/officeDocument/2006/relationships/notesSlide" Target="/ppt/notesSlides/notesSlide15.xml" Id="R429ba13580df475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94928c708c488d" /><Relationship Type="http://schemas.openxmlformats.org/officeDocument/2006/relationships/notesSlide" Target="/ppt/notesSlides/notesSlide16.xml" Id="R661922bc938f43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E3CC7F-B679-4802-AD2B-427B4C90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AI导购理由撤回后的预算重审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EB2BAE-D859-4C68-AA93-EA374ADD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5A143-A050-4E49-8EE3-0244D283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重要理由失去支持后</a:t>
            </a:r>
          </a:p>
          <a:p xmlns:a="http://schemas.openxmlformats.org/drawingml/2006/main">
            <a:pPr>
              <a:defRPr sz="35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如何完成相称修复并尊重停止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DDFB2-1FCE-4503-B4B1-BCB2F6BD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rPr>
              <a:t>成年消费者的中文建议型购物助手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C6F55-95F7-41DC-BC4F-43CE229B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rPr>
              <a:t>规范判准  国内二手数据复分析  治理验收</a:t>
            </a:r>
          </a:p>
        </p:txBody>
      </p:sp>
    </p:spTree>
    <p:extLst>
      <p:ext uri="{BB962C8B-B14F-4D97-AF65-F5344CB8AC3E}">
        <p14:creationId xmlns:p14="http://schemas.microsoft.com/office/powerpoint/2010/main" val="1158523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6ED0D-73AB-47AC-A1EF-039079CE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事实更正可能关联先前的预算决定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0E8A4-7719-4990-BE1F-7FF02411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ED16A-3B28-4BC1-A9A9-3EC17490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rPr>
              <a:t>原有范围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475D1-E701-4F86-812C-94532313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消费者给出150元预算，助手提供商品与功能比较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0C960-067F-4E4A-AF0C-5913F01D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rPr>
              <a:t>公开使用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FF85B-7A4C-453E-A596-F5B4520C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消费者明确表示主要因为某项优势，愿提高到200元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3BF6F-157C-4FCB-8ADA-7A9CD468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rPr>
              <a:t>依据变化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5D6AC-8B1F-43D4-9C08-0A1F552A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该优势后来失去支持，当前预算仍需由本人决定是否修改</a:t>
            </a:r>
          </a:p>
        </p:txBody>
      </p:sp>
    </p:spTree>
    <p:extLst>
      <p:ext uri="{BB962C8B-B14F-4D97-AF65-F5344CB8AC3E}">
        <p14:creationId xmlns:p14="http://schemas.microsoft.com/office/powerpoint/2010/main" val="2691009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F8896-A84D-4D85-BC88-B449F5B1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材料身份决定它可以支持什么判断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21978-A644-44AF-858A-1C27CEE4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36BC7-6E1B-4B8C-995D-7BEA5B1C1E0E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3714750"/>
                <a:gridCol w="4019550"/>
              </a:tblGrid>
              <a:tr h="869156"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72B3A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72B3A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证据范围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72B3A"/>
                    </a:solidFill>
                  </a:tcPr>
                </a:tc>
              </a:tr>
              <a:tr h="869156"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规范论证与构造案例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责任条件与边界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不估计消费者心理效应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手机探索与限定系统预试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具体断言及条件响应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后续转贴和原始界面分别登记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</a:tr>
              <a:tr h="869156"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国内516人原六臂记录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即时信任与统计不确定性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不包含预算重审处理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D10C4-4BEA-4696-8A3E-5741A2E4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rPr>
              <a:t>原数据、规范判断和本轮工程验收分别记录</a:t>
            </a:r>
          </a:p>
        </p:txBody>
      </p:sp>
    </p:spTree>
    <p:extLst>
      <p:ext uri="{BB962C8B-B14F-4D97-AF65-F5344CB8AC3E}">
        <p14:creationId xmlns:p14="http://schemas.microsoft.com/office/powerpoint/2010/main" val="18876322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D08E8-FABE-46FA-8016-3110E6EB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既有研究使增量落在责任条件的细化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05CC5-498E-4464-BD20-831CE855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90D10-41F3-4A5C-97DA-AD547D25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rPr>
              <a:t>消费品纠错已有经验研究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4F75C-B4FE-467D-BC86-DBF3E72A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事实信念、固有偏好及支付意愿的修复，已有邻近研究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A9452-CCEE-4ED7-BCA5-92558EFE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rPr>
              <a:t>自主保护涵盖理由与实际行动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3FA0D-FAEF-4E67-AF0D-354135F7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反思、委托和避免过度负担需要一起考察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BF9D0-982B-4BC6-853D-B507670C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rPr>
              <a:t>本研究的既有定位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C0F54-FCF1-434E-B04A-6B6D1EAD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细化预算关联说明的触发、功能完成、停止和审计条件</a:t>
            </a:r>
          </a:p>
        </p:txBody>
      </p:sp>
    </p:spTree>
    <p:extLst>
      <p:ext uri="{BB962C8B-B14F-4D97-AF65-F5344CB8AC3E}">
        <p14:creationId xmlns:p14="http://schemas.microsoft.com/office/powerpoint/2010/main" val="15386072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8C112-02DD-492C-8DBE-C9548B67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角色责任须满足公开联系和相称条件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A48F5-B244-4A2D-9EB0-D94DB6C0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EEC54-690C-419F-93AF-B83C6A4A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rPr>
              <a:t>消费者保有支出决定地位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2B5E6-8D99-48AA-B6A8-ECCAE88A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9728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理由重要，存在公开可核的预算联系</a:t>
            </a:r>
          </a:p>
          <a:p xmlns:a="http://schemas.openxmlformats.org/drawingml/2006/main">
            <a:pPr>
              <a:defRPr sz="23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决定仍可调整，当前说明还有具体缺口</a:t>
            </a:r>
          </a:p>
          <a:p xmlns:a="http://schemas.openxmlformats.org/drawingml/2006/main">
            <a:pPr>
              <a:defRPr sz="23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助手有知识和可控制的修复机会</a:t>
            </a:r>
          </a:p>
          <a:p xmlns:a="http://schemas.openxmlformats.org/drawingml/2006/main">
            <a:pPr>
              <a:defRPr sz="23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补充沟通的负担相称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77F86-6B08-4587-884E-D3B891AC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rPr>
              <a:t>普通更正已经完成功能时，无须另设确认关卡</a:t>
            </a:r>
          </a:p>
        </p:txBody>
      </p:sp>
    </p:spTree>
    <p:extLst>
      <p:ext uri="{BB962C8B-B14F-4D97-AF65-F5344CB8AC3E}">
        <p14:creationId xmlns:p14="http://schemas.microsoft.com/office/powerpoint/2010/main" val="13328775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03D4C-C254-41F4-82B9-8101F832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限定预试保留了系统的正面响应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B3D48-FB65-4914-A996-D4F2750E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8FE37-ECE2-474D-830F-21EDF044CA2E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3905250"/>
                <a:gridCol w="3686175"/>
              </a:tblGrid>
              <a:tr h="857250">
                <a:tc>
                  <a:txBody>
                    <a:bodyPr wrap="square"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给定历史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72B3A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首轮可见响应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72B3A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72B3A"/>
                    </a:solidFill>
                  </a:tcPr>
                </a:tc>
              </a:tr>
              <a:tr h="857250">
                <a:tc>
                  <a:txBody>
                    <a:bodyPr wrap="square" lIns="114300" tIns="76200" rIns="114300" bIns="76200"/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主要依赖撤回理由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推荐79元甲，保留乙入口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未见后台预算改写证据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wrap="square" lIns="114300" tIns="76200" rIns="114300" bIns="76200"/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有充分独立颜色理由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支持179元蓝色乙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允许合理维持升级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</a:tr>
              <a:tr h="857250">
                <a:tc>
                  <a:txBody>
                    <a:bodyPr wrap="square" lIns="114300" tIns="76200" rIns="114300" bIns="76200"/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更正后已知情重申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支持乙，未再要求确认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符合停止重复重审边界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A31B4-92BC-4906-B472-A0E04D5F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rPr>
              <a:t>79元同时满足150元与200元上限，推荐便宜款不等于擅改预算</a:t>
            </a:r>
          </a:p>
        </p:txBody>
      </p:sp>
    </p:spTree>
    <p:extLst>
      <p:ext uri="{BB962C8B-B14F-4D97-AF65-F5344CB8AC3E}">
        <p14:creationId xmlns:p14="http://schemas.microsoft.com/office/powerpoint/2010/main" val="20477831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EB3230-C96D-4F78-B142-D267AC3F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国内记录保留原六臂与原响应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AD4E1-924C-4ABC-B713-7BC76F71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A05004-B38A-4337-A155-660C3E4AE3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6788894ff4d0c"/>
          <a:stretch xmlns:a="http://schemas.openxmlformats.org/drawingml/2006/main"/>
        </p:blipFill>
        <p:spPr>
          <a:xfrm xmlns:a="http://schemas.openxmlformats.org/drawingml/2006/main">
            <a:off x="1182731" y="1476375"/>
            <a:ext cx="6949987" cy="4191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D3094-9957-4501-86BB-6EB7C8CB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05000"/>
            <a:ext cx="266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516名成年参与者</a:t>
            </a:r>
          </a:p>
          <a:p xmlns:a="http://schemas.openxmlformats.org/drawingml/2006/main">
            <a: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原生3×2实验臂</a:t>
            </a:r>
          </a:p>
          <a:p xmlns:a="http://schemas.openxmlformats.org/drawingml/2006/main">
            <a: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三题即时信任均值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830BF-DA2E-4537-B49E-17FB6213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05250"/>
            <a:ext cx="266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rPr>
              <a:t>按原臂各5,000轮</a:t>
            </a:r>
          </a:p>
          <a:p xmlns:a="http://schemas.openxmlformats.org/drawingml/2006/main">
            <a:pPr>
              <a:defRPr sz="202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rPr>
              <a:t>参与者bootstrap</a:t>
            </a:r>
          </a:p>
          <a:p xmlns:a="http://schemas.openxmlformats.org/drawingml/2006/main">
            <a:pPr>
              <a:defRPr sz="202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rPr>
              <a:t>403人现场敏感性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40C9F-FCC3-4372-9A7F-C5AD0065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rPr>
              <a:t>夹克记忆提示与具体面板场景</a:t>
            </a:r>
          </a:p>
        </p:txBody>
      </p:sp>
    </p:spTree>
    <p:extLst>
      <p:ext uri="{BB962C8B-B14F-4D97-AF65-F5344CB8AC3E}">
        <p14:creationId xmlns:p14="http://schemas.microsoft.com/office/powerpoint/2010/main" val="18772289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67CD3-5B75-44AA-B971-20CD79D5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平均信任差与相对差距分别报告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E605A-9F16-43FC-9E74-73A0F09D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4EE871-708C-4C9C-A8B6-E30FE2AAAD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ddff96a94342e0"/>
          <a:stretch xmlns:a="http://schemas.openxmlformats.org/drawingml/2006/main"/>
        </p:blipFill>
        <p:spPr>
          <a:xfrm xmlns:a="http://schemas.openxmlformats.org/drawingml/2006/main">
            <a:off x="609600" y="1548532"/>
            <a:ext cx="8096250" cy="404668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E59D3-BC38-4A4B-990F-27ACFB3B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05000"/>
            <a:ext cx="2714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主δ = −0.160</a:t>
            </a:r>
          </a:p>
          <a:p xmlns:a="http://schemas.openxmlformats.org/drawingml/2006/main">
            <a: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95%区间</a:t>
            </a:r>
          </a:p>
          <a:p xmlns:a="http://schemas.openxmlformats.org/drawingml/2006/main">
            <a: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[−0.542, 0.220]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CE946-EF81-4390-888A-6652A505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52875"/>
            <a:ext cx="2714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rPr>
              <a:t>平均差A = 0.186</a:t>
            </a:r>
          </a:p>
          <a:p xmlns:a="http://schemas.openxmlformats.org/drawingml/2006/main">
            <a:pPr>
              <a:defRPr sz="202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rPr>
              <a:t>95%区间</a:t>
            </a:r>
          </a:p>
          <a:p xmlns:a="http://schemas.openxmlformats.org/drawingml/2006/main">
            <a:pPr>
              <a:defRPr sz="202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rPr>
              <a:t>[0.032, 0.341]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C9005-384F-40BA-8C0D-559824E2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rPr>
              <a:t>两者对应不同问题，沿用原报告的解释边界</a:t>
            </a:r>
          </a:p>
        </p:txBody>
      </p:sp>
    </p:spTree>
    <p:extLst>
      <p:ext uri="{BB962C8B-B14F-4D97-AF65-F5344CB8AC3E}">
        <p14:creationId xmlns:p14="http://schemas.microsoft.com/office/powerpoint/2010/main" val="11957628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EEE46-4B7E-47A5-8BBA-7F3C128C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触发提醒需要可回溯的证据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F85E6-BB64-4925-B99F-75F478A1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3864C-F8B2-4CF4-8FC4-B3A3E7513DC0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742950">
                <a:tc>
                  <a:txBody>
                    <a:bodyPr wrap="square" lIns="114300" tIns="76200" rIns="11430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要核对的条件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72B3A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可核查记录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72B3A"/>
                    </a:solidFill>
                  </a:tcPr>
                </a:tc>
              </a:tr>
              <a:tr h="742950">
                <a:tc>
                  <a:txBody>
                    <a:bodyPr wrap="square" lIns="114300" tIns="76200" rIns="114300" bIns="76200"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重要理由失去支持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理由ID、依据来源与实质版本变化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 lIns="114300" tIns="76200" rIns="114300" bIns="76200"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消费者公开用于预算修订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用户原话及会话轮次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</a:tr>
              <a:tr h="742950">
                <a:tc>
                  <a:txBody>
                    <a:bodyPr wrap="square" lIns="114300" tIns="76200" rIns="114300" bIns="76200"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决定可调整且关联尚有缺口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当前任务与已有更正的完成状态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 lIns="114300" tIns="76200" rIns="114300" bIns="76200"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沟通负担相称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87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提示内容、次数及新增操作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DDCE2-574D-4BE8-9010-D191EC23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rPr>
              <a:t>关联不明时保持当前预算，接受用户纠正记录</a:t>
            </a:r>
          </a:p>
        </p:txBody>
      </p:sp>
    </p:spTree>
    <p:extLst>
      <p:ext uri="{BB962C8B-B14F-4D97-AF65-F5344CB8AC3E}">
        <p14:creationId xmlns:p14="http://schemas.microsoft.com/office/powerpoint/2010/main" val="18876850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09CAC-3957-485D-B6A6-269E2F0E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停止条件进入同一套执行规则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5A746-ACD8-40F5-9EAE-9A944AC8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0E4BD-08DB-45E8-BF13-F1D1EC1C005B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742950"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情况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72B3A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执行约定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72B3A"/>
                    </a:solidFill>
                  </a:tcPr>
                </a:tc>
              </a:tr>
              <a:tr h="742950"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普通更正已充分完成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不追加预算邀请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同一实质依据版本仍需提示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默认至多一次主动预算邀请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</a:tr>
              <a:tr h="742950"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用户知情重申或明确结束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停止同一提示与商业推动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用户主动追问或出现重要新事实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分别审查必要响应，改措辞不重置计数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3E50C-5EE3-459D-BC9D-BEA029F6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rPr>
              <a:t>必要安全通知另审必要性和渠道，并与营销分开</a:t>
            </a:r>
          </a:p>
        </p:txBody>
      </p:sp>
    </p:spTree>
    <p:extLst>
      <p:ext uri="{BB962C8B-B14F-4D97-AF65-F5344CB8AC3E}">
        <p14:creationId xmlns:p14="http://schemas.microsoft.com/office/powerpoint/2010/main" val="20944452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E5254-35AC-4A61-9F83-9AC2B85E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预算执行与知情重申分别留痕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31D6F-2FB7-42CD-92CE-8E1AE106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CC628-861A-4828-8C29-2EF995D9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rPr>
              <a:t>预算状态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69507-B56D-4E8D-AAB3-82009F6C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保存变更前后数值、有效授权表达与轮次，条件预览不改生效预算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6A1FD-4FC0-4333-BA6F-5495F34A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rPr>
              <a:t>知情重申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F12BB4-D4F1-42EA-855D-65DB3E29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关联先前更正版本和用户后续维持表达，保留纠正入口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D4F9A-E0EB-4E23-A0B2-D6277981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rPr>
              <a:t>实际执行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7AC856-E16C-47E3-9863-A5FE6B66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核对筛选实参、候选总支付和结束事件，不能只查尊重预算的措辞</a:t>
            </a:r>
          </a:p>
        </p:txBody>
      </p:sp>
    </p:spTree>
    <p:extLst>
      <p:ext uri="{BB962C8B-B14F-4D97-AF65-F5344CB8AC3E}">
        <p14:creationId xmlns:p14="http://schemas.microsoft.com/office/powerpoint/2010/main" val="5291906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B7DCE-A044-459A-88B6-8DD0A1B0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负担与目标改写采用可观察指标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F5AD1-F698-40C9-BB5A-72BA060D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54495-85BC-489C-9F59-C21662B3E264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381500"/>
                <a:gridCol w="3733800"/>
              </a:tblGrid>
              <a:tr h="742950">
                <a:tc>
                  <a:txBody>
                    <a:bodyPr wrap="square"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72B3A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记录方式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72B3A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解释边界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72B3A"/>
                    </a:solidFill>
                  </a:tcPr>
                </a:tc>
              </a:tr>
              <a:tr h="742950">
                <a:tc>
                  <a:txBody>
                    <a:bodyPr wrap="square" lIns="114300" tIns="76200" rIns="114300" bIns="76200"/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重复干预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同一依据版本的主动邀请次数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不以换措辞重置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 lIns="114300" tIns="76200" rIns="114300" bIns="76200"/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信息与操作负担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提示字符、额外步骤、任务时间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无经验证的综合阈值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</a:tr>
              <a:tr h="742950">
                <a:tc>
                  <a:txBody>
                    <a:bodyPr wrap="square" lIns="114300" tIns="76200" rIns="114300" bIns="76200"/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主观负担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可选、自愿的后续评价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不以完成评价为继续条件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 lIns="114300" tIns="76200" rIns="114300" bIns="76200"/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擅改目标或越限筛选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授权事件与预算状态、筛选实参比对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725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日志需真实且完整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67347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E8218-64CB-4019-BEB9-BE02E5A2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既有结果与治理措施一一对应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B962A-0CCB-47FA-AC45-F66007CA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1AB0C-603A-4E32-ACBC-DD36DC1FFE06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810000"/>
                <a:gridCol w="3543300"/>
              </a:tblGrid>
              <a:tr h="869156"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既有依据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72B3A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治理安排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72B3A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验收对象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T w="9525">
                      <a:solidFill>
                        <a:srgbClr val="D9E1E5"/>
                      </a:solidFill>
                      <a:prstDash val="solid"/>
                    </a:lnT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172B3A"/>
                    </a:solidFill>
                  </a:tcPr>
                </a:tc>
              </a:tr>
              <a:tr h="869156"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平均评价与特定差距不同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按具体修复问题分别验收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告知、状态、筛选与停止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区间及样本边界保持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保留失败和未决记录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工程检查与统计输出分栏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</a:tr>
              <a:tr h="869156"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关联、完成及停止判准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5"/>
                      </a:solidFill>
                      <a:prstDash val="solid"/>
                    </a:lnL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有缺口才提示，已完成即停止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76200" rIns="114300" bIns="76200"/>
                    <a:lstStyle/>
                    <a:p>
                      <a:r>
                        <a:rPr sz="1800" b="0">
                          <a:solidFill>
                            <a:srgbClr val="17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原话、事实版本及结束事件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5"/>
                      </a:solidFill>
                      <a:prstDash val="solid"/>
                    </a:lnR>
                    <a:lnB w="9525">
                      <a:solidFill>
                        <a:srgbClr val="D9E1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0A27D-AB18-4843-9A13-CDFD25E9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rPr>
              <a:t>伦理判准与工程验收共同使用，各自承担原有任务</a:t>
            </a:r>
          </a:p>
        </p:txBody>
      </p:sp>
    </p:spTree>
    <p:extLst>
      <p:ext uri="{BB962C8B-B14F-4D97-AF65-F5344CB8AC3E}">
        <p14:creationId xmlns:p14="http://schemas.microsoft.com/office/powerpoint/2010/main" val="1686157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1133E-26DD-4CB5-8657-755D55D6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参考实现已完成16项工程断言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DD70B-15B0-4EDA-A5FE-ACF1DFF4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94BAF-5F18-4522-8A30-5719A379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rPr>
              <a:t>运行入口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DC8EC-89E4-488A-91B4-D5428CD7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python governance/check_protocol.py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0F746-D95C-4956-9000-8D11D12C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rPr>
              <a:t>检查内容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61F6A-90E0-40C7-AA23-7EAAE38A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授权变更、重复提示、用户纠正、重申停止、结束与筛选越限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8F8A2-88DB-4531-B2E4-E68647C3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rPr>
              <a:t>实现边界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2F03E-890F-4869-82EA-7056EB28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需要接入真实会话和价格来源，日志真实性及现场部署尚待完成</a:t>
            </a:r>
          </a:p>
        </p:txBody>
      </p:sp>
    </p:spTree>
    <p:extLst>
      <p:ext uri="{BB962C8B-B14F-4D97-AF65-F5344CB8AC3E}">
        <p14:creationId xmlns:p14="http://schemas.microsoft.com/office/powerpoint/2010/main" val="12800908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41903A-138A-4339-9A76-E7468B1A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保护措施也需要控制负担和隐私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E9D14-FBBB-4F25-98BD-3E7DA804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87FF6-DCD9-4CCE-AE09-4F4B8786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rPr>
              <a:t>避免过度锁定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7D080-5427-49BD-8EB6-1EA570B6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维持预算、改预算、降低用途和暂不购买均有可用路径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1A985-65D7-4443-9EA5-8460EC2B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rPr>
              <a:t>避免持续画像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8BF97-5F8E-4957-BB65-655A241E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优先使用本任务已有公开表达，记录最少关联与来源版本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BC387-0FF1-4E6F-ABB2-DAEF82CE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rPr>
              <a:t>避免形式性合规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B692D-42A3-4EB9-92B5-3DC660D1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不以弹窗、确认次数或日志自报替代实际可用的控制</a:t>
            </a:r>
          </a:p>
        </p:txBody>
      </p:sp>
    </p:spTree>
    <p:extLst>
      <p:ext uri="{BB962C8B-B14F-4D97-AF65-F5344CB8AC3E}">
        <p14:creationId xmlns:p14="http://schemas.microsoft.com/office/powerpoint/2010/main" val="9042188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2788E-7280-42F4-9907-871AFBD8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完整材料已经整合，外部检测据实补入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D574F-9DE1-4D96-B983-86EB4815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472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C2B8F-9941-47D2-9CC5-28858CA5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rPr>
              <a:t>本次完成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05E13-C8CE-46E2-9C3E-D4ED252C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完整报告、答辩PPT、匿名复现包、执行规则和保护范围核对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5BAFD-FC4B-4248-96FA-F3ED17EF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rPr>
              <a:t>保持不变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A21E9-75AC-4320-94BA-4BB3BBE3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摘要、前三章、结论、参考文献及原六臂数据与计算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84442-23C9-4E37-A169-173E23CC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7C80"/>
                </a:solidFill>
                <a:latin typeface="Microsoft YaHei"/>
                <a:ea typeface="Microsoft YaHei"/>
                <a:cs typeface="Microsoft YaHei"/>
              </a:rPr>
              <a:t>提交前补入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6840EA-93A9-4B0F-AB3C-AF036333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B3A"/>
                </a:solidFill>
                <a:latin typeface="Microsoft YaHei"/>
                <a:ea typeface="Microsoft YaHei"/>
                <a:cs typeface="Microsoft YaHei"/>
              </a:rPr>
              <a:t>真实知网报告、正式分享入口与提交回执，均按实际状态登记</a:t>
            </a:r>
          </a:p>
        </p:txBody>
      </p:sp>
    </p:spTree>
    <p:extLst>
      <p:ext uri="{BB962C8B-B14F-4D97-AF65-F5344CB8AC3E}">
        <p14:creationId xmlns:p14="http://schemas.microsoft.com/office/powerpoint/2010/main" val="18621379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/>
  <ns0:lastModifiedBy/>
  <dc:title>AI导购理由撤回后的预算重审</dc:title>
  <ns2:created xsi:type="dcterms:W3CDTF">2026-10-29T16:46:23.7230000Z</ns2:created>
  <ns2:modified xsi:type="dcterms:W3CDTF">2026-10-29T16:46:23.7230000Z</ns2:modified>
</ns0:coreProperties>
</file>